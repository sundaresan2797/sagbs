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image" Target="../media/image-4-2.png"/><Relationship Id="rId5" Type="http://schemas.openxmlformats.org/officeDocument/2006/relationships/image" Target="../media/image-4-2.png"/><Relationship Id="rId6" Type="http://schemas.openxmlformats.org/officeDocument/2006/relationships/image" Target="../media/image-4-2.png"/><Relationship Id="rId7" Type="http://schemas.openxmlformats.org/officeDocument/2006/relationships/image" Target="../media/image-4-2.png"/><Relationship Id="rId8" Type="http://schemas.openxmlformats.org/officeDocument/2006/relationships/image" Target="../media/image-4-2.png"/><Relationship Id="rId9" Type="http://schemas.openxmlformats.org/officeDocument/2006/relationships/image" Target="../media/image-4-2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image" Target="../media/image-5-2.png"/><Relationship Id="rId7" Type="http://schemas.openxmlformats.org/officeDocument/2006/relationships/image" Target="../media/image-5-2.png"/><Relationship Id="rId8" Type="http://schemas.openxmlformats.org/officeDocument/2006/relationships/image" Target="../media/image-5-2.png"/><Relationship Id="rId9" Type="http://schemas.openxmlformats.org/officeDocument/2006/relationships/image" Target="../media/image-5-2.png"/><Relationship Id="rId10" Type="http://schemas.openxmlformats.org/officeDocument/2006/relationships/image" Target="../media/image-5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image" Target="../media/image-6-2.png"/><Relationship Id="rId7" Type="http://schemas.openxmlformats.org/officeDocument/2006/relationships/image" Target="../media/image-6-2.png"/><Relationship Id="rId8" Type="http://schemas.openxmlformats.org/officeDocument/2006/relationships/image" Target="../media/image-6-2.png"/><Relationship Id="rId9" Type="http://schemas.openxmlformats.org/officeDocument/2006/relationships/image" Target="../media/image-6-2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2.png"/><Relationship Id="rId6" Type="http://schemas.openxmlformats.org/officeDocument/2006/relationships/image" Target="../media/image-7-2.png"/><Relationship Id="rId7" Type="http://schemas.openxmlformats.org/officeDocument/2006/relationships/image" Target="../media/image-7-2.png"/><Relationship Id="rId8" Type="http://schemas.openxmlformats.org/officeDocument/2006/relationships/image" Target="../media/image-7-2.png"/><Relationship Id="rId9" Type="http://schemas.openxmlformats.org/officeDocument/2006/relationships/image" Target="../media/image-7-2.png"/><Relationship Id="rId10" Type="http://schemas.openxmlformats.org/officeDocument/2006/relationships/image" Target="../media/image-7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2.png"/><Relationship Id="rId5" Type="http://schemas.openxmlformats.org/officeDocument/2006/relationships/image" Target="../media/image-8-2.png"/><Relationship Id="rId6" Type="http://schemas.openxmlformats.org/officeDocument/2006/relationships/image" Target="../media/image-8-2.png"/><Relationship Id="rId7" Type="http://schemas.openxmlformats.org/officeDocument/2006/relationships/image" Target="../media/image-8-2.png"/><Relationship Id="rId8" Type="http://schemas.openxmlformats.org/officeDocument/2006/relationships/image" Target="../media/image-8-2.png"/><Relationship Id="rId9" Type="http://schemas.openxmlformats.org/officeDocument/2006/relationships/image" Target="../media/image-8-2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2.png"/><Relationship Id="rId4" Type="http://schemas.openxmlformats.org/officeDocument/2006/relationships/image" Target="../media/image-9-2.png"/><Relationship Id="rId5" Type="http://schemas.openxmlformats.org/officeDocument/2006/relationships/image" Target="../media/image-9-2.png"/><Relationship Id="rId6" Type="http://schemas.openxmlformats.org/officeDocument/2006/relationships/image" Target="../media/image-9-2.png"/><Relationship Id="rId7" Type="http://schemas.openxmlformats.org/officeDocument/2006/relationships/image" Target="../media/image-9-2.png"/><Relationship Id="rId8" Type="http://schemas.openxmlformats.org/officeDocument/2006/relationships/image" Target="../media/image-9-2.png"/><Relationship Id="rId9" Type="http://schemas.openxmlformats.org/officeDocument/2006/relationships/image" Target="../media/image-9-2.png"/><Relationship Id="rId10" Type="http://schemas.openxmlformats.org/officeDocument/2006/relationships/image" Target="../media/image-9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1B4D"/>
          </a:solidFill>
          <a:ln/>
        </p:spPr>
      </p:sp>
      <p:sp>
        <p:nvSpPr>
          <p:cNvPr id="3" name="Shape 1"/>
          <p:cNvSpPr/>
          <p:nvPr/>
        </p:nvSpPr>
        <p:spPr>
          <a:xfrm>
            <a:off x="5184648" y="1051560"/>
            <a:ext cx="1828800" cy="182880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C79A2B"/>
            </a:solidFill>
            <a:prstDash val="solid"/>
          </a:ln>
        </p:spPr>
      </p:sp>
      <p:pic>
        <p:nvPicPr>
          <p:cNvPr id="4" name="Image 0" descr="/private/tmp/claude-501/-Users-sundareswaran-Desktop-Panneer-Anna/a43ea62b-1da2-4210-a622-8d0ded54dee8/scratchpad/roles_deck/icon_key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48" y="1508760"/>
            <a:ext cx="914400" cy="914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3246120"/>
            <a:ext cx="10725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&amp; FEATURES GUIDE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02336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can do what in the Employee Management System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184648" y="4617720"/>
            <a:ext cx="1828800" cy="0"/>
          </a:xfrm>
          <a:prstGeom prst="line">
            <a:avLst/>
          </a:prstGeom>
          <a:noFill/>
          <a:ln w="19050">
            <a:solidFill>
              <a:srgbClr val="C79A2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6126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9A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Annamalai Global Business Service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Different Things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person has both of these — and they are not the same thing.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329184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/>
        </p:spPr>
      </p:sp>
      <p:pic>
        <p:nvPicPr>
          <p:cNvPr id="5" name="Image 0" descr="/private/tmp/claude-501/-Users-sundareswaran-Desktop-Panneer-Anna/a43ea62b-1da2-4210-a622-8d0ded54dee8/scratchpad/roles_deck/icon_key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920240"/>
            <a:ext cx="594360" cy="5943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00200" y="19659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 Role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65176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what someone can SEE and DO in the system.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291840"/>
            <a:ext cx="4526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7 of these exist: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Executive, Admin, HR, Accountant, Manager, Employee.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251960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9A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only on the User Accounts screen, by Admin.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1600200"/>
            <a:ext cx="5349240" cy="3291840"/>
          </a:xfrm>
          <a:prstGeom prst="roundRect">
            <a:avLst>
              <a:gd name="adj" fmla="val 2778"/>
            </a:avLst>
          </a:prstGeom>
          <a:solidFill>
            <a:srgbClr val="F4F5FA"/>
          </a:solidFill>
          <a:ln w="12700">
            <a:solidFill>
              <a:srgbClr val="E7E5E4"/>
            </a:solidFill>
            <a:prstDash val="solid"/>
          </a:ln>
        </p:spPr>
      </p:sp>
      <p:pic>
        <p:nvPicPr>
          <p:cNvPr id="11" name="Image 1" descr="/private/tmp/claude-501/-Users-sundareswaran-Desktop-Panneer-Anna/a43ea62b-1da2-4210-a622-8d0ded54dee8/scratchpad/roles_deck/icon_idBadge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920240"/>
            <a:ext cx="594360" cy="5943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15200" y="1965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Designation &amp; Department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583680" y="26517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WHO someone is — their actual job title and team.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583680" y="32918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Purely descriptive — it never changes what buttons someone sees.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583680" y="4251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on the employee's own Edit Profile screen.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51663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DF6E3"/>
          </a:solidFill>
          <a:ln w="9525">
            <a:solidFill>
              <a:srgbClr val="C79A2B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914400" y="516636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Parameswari's Login Role is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but her real job is </a:t>
            </a:r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 Supervisor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Data Entry department. Changing one never changes the other.</a:t>
            </a:r>
            <a:endParaRPr lang="en-US" sz="1300" dirty="0"/>
          </a:p>
        </p:txBody>
      </p:sp>
      <p:sp>
        <p:nvSpPr>
          <p:cNvPr id="18" name="Text 1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Annamalai Global Business Service  |  Roles &amp; Features Guide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7 Roles, at a Glance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full, live, editable breakdown of all 29 underlying permissions is always in the app: Admin → Roles &amp; Permissions.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4754880"/>
        </p:xfrm>
        <a:graphic>
          <a:graphicData uri="http://schemas.openxmlformats.org/drawingml/2006/table">
            <a:tbl>
              <a:tblPr/>
              <a:tblGrid>
                <a:gridCol w="1828800"/>
                <a:gridCol w="3566160"/>
                <a:gridCol w="2194560"/>
                <a:gridCol w="1828800"/>
                <a:gridCol w="164592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Role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this is for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Company-wide data?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Sees payroll?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the system?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business 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second owner / co-founder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/ system administrator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(people &amp; org)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No, never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Resources staff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(people &amp; leave)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 (org setup)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Payroll / finance staff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(money only)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Anyone with direct reports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 team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Everyone else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925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7E5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Annamalai Global Business Service  |  Roles &amp; Features Guide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private/tmp/claude-501/-Users-sundareswaran-Desktop-Panneer-Anna/a43ea62b-1da2-4210-a622-8d0ded54dee8/scratchpad/roles_deck/icon_crown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12648"/>
            <a:ext cx="420624" cy="4206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3657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 &amp; Executive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868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owner, and a second owner (e.g. CEO/COO) with identical authority — full control of people and money, but not the system itself.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7" name="Image 1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36192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24128" y="14630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9" name="Text 5"/>
          <p:cNvSpPr txBox="1"/>
          <p:nvPr/>
        </p:nvSpPr>
        <p:spPr>
          <a:xfrm>
            <a:off x="1024128" y="175564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Company-wide live numbers: attendance, leave, tasks, payroll.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217920" y="137160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11" name="Image 2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53619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784848" y="14630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350" dirty="0"/>
          </a:p>
        </p:txBody>
      </p:sp>
      <p:sp>
        <p:nvSpPr>
          <p:cNvPr id="13" name="Text 8"/>
          <p:cNvSpPr txBox="1"/>
          <p:nvPr/>
        </p:nvSpPr>
        <p:spPr>
          <a:xfrm>
            <a:off x="6784848" y="175564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profiles for everyone; can edit department &amp; job title.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457200" y="237744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15" name="Image 3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542032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24128" y="24688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350" dirty="0"/>
          </a:p>
        </p:txBody>
      </p:sp>
      <p:sp>
        <p:nvSpPr>
          <p:cNvPr id="17" name="Text 11"/>
          <p:cNvSpPr txBox="1"/>
          <p:nvPr/>
        </p:nvSpPr>
        <p:spPr>
          <a:xfrm>
            <a:off x="1024128" y="276148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See, fix, and correct anyone's attendance, company-wide.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6217920" y="237744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19" name="Image 4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2542032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784848" y="24688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</a:t>
            </a:r>
            <a:endParaRPr lang="en-US" sz="1350" dirty="0"/>
          </a:p>
        </p:txBody>
      </p:sp>
      <p:sp>
        <p:nvSpPr>
          <p:cNvPr id="21" name="Text 14"/>
          <p:cNvSpPr txBox="1"/>
          <p:nvPr/>
        </p:nvSpPr>
        <p:spPr>
          <a:xfrm>
            <a:off x="6784848" y="276148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reject, or record leave for anyone in the company.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457200" y="338328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23" name="Image 5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3547872"/>
            <a:ext cx="274320" cy="27432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024128" y="34747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Tasks</a:t>
            </a:r>
            <a:endParaRPr lang="en-US" sz="1350" dirty="0"/>
          </a:p>
        </p:txBody>
      </p:sp>
      <p:sp>
        <p:nvSpPr>
          <p:cNvPr id="25" name="Text 17"/>
          <p:cNvSpPr txBox="1"/>
          <p:nvPr/>
        </p:nvSpPr>
        <p:spPr>
          <a:xfrm>
            <a:off x="1024128" y="376732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assign tasks across the whole company.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6217920" y="338328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27" name="Image 6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512" y="3547872"/>
            <a:ext cx="274320" cy="27432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6784848" y="34747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&amp; Payroll</a:t>
            </a:r>
            <a:endParaRPr lang="en-US" sz="1350" dirty="0"/>
          </a:p>
        </p:txBody>
      </p:sp>
      <p:sp>
        <p:nvSpPr>
          <p:cNvPr id="29" name="Text 20"/>
          <p:cNvSpPr txBox="1"/>
          <p:nvPr/>
        </p:nvSpPr>
        <p:spPr>
          <a:xfrm>
            <a:off x="6784848" y="376732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salaries, run payroll, mark payments paid — full control.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457200" y="438912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31" name="Image 7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" y="4553712"/>
            <a:ext cx="274320" cy="274320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1024128" y="44805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Claims</a:t>
            </a:r>
            <a:endParaRPr lang="en-US" sz="1350" dirty="0"/>
          </a:p>
        </p:txBody>
      </p:sp>
      <p:sp>
        <p:nvSpPr>
          <p:cNvPr id="33" name="Text 23"/>
          <p:cNvSpPr txBox="1"/>
          <p:nvPr/>
        </p:nvSpPr>
        <p:spPr>
          <a:xfrm>
            <a:off x="1024128" y="477316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reject, or pay any claim (never their own).</a:t>
            </a:r>
            <a:endParaRPr lang="en-US" sz="1050" dirty="0"/>
          </a:p>
        </p:txBody>
      </p:sp>
      <p:sp>
        <p:nvSpPr>
          <p:cNvPr id="34" name="Shape 24"/>
          <p:cNvSpPr/>
          <p:nvPr/>
        </p:nvSpPr>
        <p:spPr>
          <a:xfrm>
            <a:off x="6217920" y="438912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35" name="Image 8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2512" y="4553712"/>
            <a:ext cx="274320" cy="274320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6784848" y="44805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1350" dirty="0"/>
          </a:p>
        </p:txBody>
      </p:sp>
      <p:sp>
        <p:nvSpPr>
          <p:cNvPr id="37" name="Text 26"/>
          <p:cNvSpPr txBox="1"/>
          <p:nvPr/>
        </p:nvSpPr>
        <p:spPr>
          <a:xfrm>
            <a:off x="6784848" y="477316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history of every action taken in the system.</a:t>
            </a:r>
            <a:endParaRPr lang="en-US" sz="1050" dirty="0"/>
          </a:p>
        </p:txBody>
      </p:sp>
      <p:sp>
        <p:nvSpPr>
          <p:cNvPr id="38" name="Shape 27"/>
          <p:cNvSpPr/>
          <p:nvPr/>
        </p:nvSpPr>
        <p:spPr>
          <a:xfrm>
            <a:off x="457200" y="580644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FBEAEA"/>
          </a:solidFill>
          <a:ln/>
        </p:spPr>
      </p:sp>
      <p:pic>
        <p:nvPicPr>
          <p:cNvPr id="39" name="Image 9" descr="/private/tmp/claude-501/-Users-sundareswaran-Desktop-Panneer-Anna/a43ea62b-1da2-4210-a622-8d0ded54dee8/scratchpad/roles_deck/icon_ban_nav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792" y="5980176"/>
            <a:ext cx="347472" cy="347472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1097280" y="58064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do:  </a:t>
            </a:r>
            <a:pPr indent="0" marL="0">
              <a:buNone/>
            </a:pPr>
            <a:r>
              <a:rPr lang="en-US" sz="1200" dirty="0">
                <a:solidFill>
                  <a:srgbClr val="8C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logins, reset passwords, change Login Roles, or manage system/org setup — that stays with Admin.</a:t>
            </a:r>
            <a:endParaRPr lang="en-US" sz="1200" dirty="0"/>
          </a:p>
        </p:txBody>
      </p:sp>
      <p:sp>
        <p:nvSpPr>
          <p:cNvPr id="41" name="Text 29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Annamalai Global Business Service  |  Roles &amp; Features Guide</a:t>
            </a:r>
            <a:endParaRPr lang="en-US" sz="900" dirty="0"/>
          </a:p>
        </p:txBody>
      </p:sp>
      <p:sp>
        <p:nvSpPr>
          <p:cNvPr id="42" name="Text 30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private/tmp/claude-501/-Users-sundareswaran-Desktop-Panneer-Anna/a43ea62b-1da2-4210-a622-8d0ded54dee8/scratchpad/roles_deck/icon_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12648"/>
            <a:ext cx="420624" cy="4206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3657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868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system day to day. Deliberately has zero payroll access — controls the software, never the money.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7" name="Image 1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36192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24128" y="14630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350" dirty="0"/>
          </a:p>
        </p:txBody>
      </p:sp>
      <p:sp>
        <p:nvSpPr>
          <p:cNvPr id="9" name="Text 5"/>
          <p:cNvSpPr txBox="1"/>
          <p:nvPr/>
        </p:nvSpPr>
        <p:spPr>
          <a:xfrm>
            <a:off x="1024128" y="175564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edit, and deactivate any employee; full profiles.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217920" y="137160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11" name="Image 2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53619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784848" y="14630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&amp; Job Titles</a:t>
            </a:r>
            <a:endParaRPr lang="en-US" sz="1350" dirty="0"/>
          </a:p>
        </p:txBody>
      </p:sp>
      <p:sp>
        <p:nvSpPr>
          <p:cNvPr id="13" name="Text 8"/>
          <p:cNvSpPr txBox="1"/>
          <p:nvPr/>
        </p:nvSpPr>
        <p:spPr>
          <a:xfrm>
            <a:off x="6784848" y="175564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over the company's org structure.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457200" y="237744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15" name="Image 3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542032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24128" y="24688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&amp; Leave</a:t>
            </a:r>
            <a:endParaRPr lang="en-US" sz="1350" dirty="0"/>
          </a:p>
        </p:txBody>
      </p:sp>
      <p:sp>
        <p:nvSpPr>
          <p:cNvPr id="17" name="Text 11"/>
          <p:cNvSpPr txBox="1"/>
          <p:nvPr/>
        </p:nvSpPr>
        <p:spPr>
          <a:xfrm>
            <a:off x="1024128" y="276148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Fix, correct, or record for anyone, company-wide.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6217920" y="237744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19" name="Image 4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2542032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784848" y="24688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Types &amp; Holidays</a:t>
            </a:r>
            <a:endParaRPr lang="en-US" sz="1350" dirty="0"/>
          </a:p>
        </p:txBody>
      </p:sp>
      <p:sp>
        <p:nvSpPr>
          <p:cNvPr id="21" name="Text 14"/>
          <p:cNvSpPr txBox="1"/>
          <p:nvPr/>
        </p:nvSpPr>
        <p:spPr>
          <a:xfrm>
            <a:off x="6784848" y="276148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leave categories and the holiday calendar.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457200" y="338328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23" name="Image 5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3547872"/>
            <a:ext cx="274320" cy="27432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024128" y="34747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Types</a:t>
            </a:r>
            <a:endParaRPr lang="en-US" sz="1350" dirty="0"/>
          </a:p>
        </p:txBody>
      </p:sp>
      <p:sp>
        <p:nvSpPr>
          <p:cNvPr id="25" name="Text 17"/>
          <p:cNvSpPr txBox="1"/>
          <p:nvPr/>
        </p:nvSpPr>
        <p:spPr>
          <a:xfrm>
            <a:off x="1024128" y="376732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what documents employees can upload.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6217920" y="338328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27" name="Image 6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512" y="3547872"/>
            <a:ext cx="274320" cy="27432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6784848" y="34747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</a:t>
            </a:r>
            <a:endParaRPr lang="en-US" sz="1350" dirty="0"/>
          </a:p>
        </p:txBody>
      </p:sp>
      <p:sp>
        <p:nvSpPr>
          <p:cNvPr id="29" name="Text 20"/>
          <p:cNvSpPr txBox="1"/>
          <p:nvPr/>
        </p:nvSpPr>
        <p:spPr>
          <a:xfrm>
            <a:off x="6784848" y="376732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Resets any password, changes any Login Role — even Founder's.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457200" y="438912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31" name="Image 7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" y="4553712"/>
            <a:ext cx="274320" cy="274320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1024128" y="44805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Permissions</a:t>
            </a:r>
            <a:endParaRPr lang="en-US" sz="1350" dirty="0"/>
          </a:p>
        </p:txBody>
      </p:sp>
      <p:sp>
        <p:nvSpPr>
          <p:cNvPr id="33" name="Text 23"/>
          <p:cNvSpPr txBox="1"/>
          <p:nvPr/>
        </p:nvSpPr>
        <p:spPr>
          <a:xfrm>
            <a:off x="1024128" y="477316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Grants or removes a permission, role by role, live.</a:t>
            </a:r>
            <a:endParaRPr lang="en-US" sz="1050" dirty="0"/>
          </a:p>
        </p:txBody>
      </p:sp>
      <p:sp>
        <p:nvSpPr>
          <p:cNvPr id="34" name="Shape 24"/>
          <p:cNvSpPr/>
          <p:nvPr/>
        </p:nvSpPr>
        <p:spPr>
          <a:xfrm>
            <a:off x="6217920" y="438912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35" name="Image 8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2512" y="4553712"/>
            <a:ext cx="274320" cy="274320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6784848" y="44805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1350" dirty="0"/>
          </a:p>
        </p:txBody>
      </p:sp>
      <p:sp>
        <p:nvSpPr>
          <p:cNvPr id="37" name="Text 26"/>
          <p:cNvSpPr txBox="1"/>
          <p:nvPr/>
        </p:nvSpPr>
        <p:spPr>
          <a:xfrm>
            <a:off x="6784848" y="477316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history of every action in the system.</a:t>
            </a:r>
            <a:endParaRPr lang="en-US" sz="1050" dirty="0"/>
          </a:p>
        </p:txBody>
      </p:sp>
      <p:sp>
        <p:nvSpPr>
          <p:cNvPr id="38" name="Shape 27"/>
          <p:cNvSpPr/>
          <p:nvPr/>
        </p:nvSpPr>
        <p:spPr>
          <a:xfrm>
            <a:off x="457200" y="580644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FBEAEA"/>
          </a:solidFill>
          <a:ln/>
        </p:spPr>
      </p:sp>
      <p:pic>
        <p:nvPicPr>
          <p:cNvPr id="39" name="Image 9" descr="/private/tmp/claude-501/-Users-sundareswaran-Desktop-Panneer-Anna/a43ea62b-1da2-4210-a622-8d0ded54dee8/scratchpad/roles_deck/icon_ban_nav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792" y="5980176"/>
            <a:ext cx="347472" cy="347472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1097280" y="58064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do:  </a:t>
            </a:r>
            <a:pPr indent="0" marL="0">
              <a:buNone/>
            </a:pPr>
            <a:r>
              <a:rPr lang="en-US" sz="1200" dirty="0">
                <a:solidFill>
                  <a:srgbClr val="8C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Salary Records, run payroll, see a single payslip number, or approve an expense claim.</a:t>
            </a:r>
            <a:endParaRPr lang="en-US" sz="1200" dirty="0"/>
          </a:p>
        </p:txBody>
      </p:sp>
      <p:sp>
        <p:nvSpPr>
          <p:cNvPr id="41" name="Text 29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Annamalai Global Business Service  |  Roles &amp; Features Guide</a:t>
            </a:r>
            <a:endParaRPr lang="en-US" sz="900" dirty="0"/>
          </a:p>
        </p:txBody>
      </p:sp>
      <p:sp>
        <p:nvSpPr>
          <p:cNvPr id="42" name="Text 30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private/tmp/claude-501/-Users-sundareswaran-Desktop-Panneer-Anna/a43ea62b-1da2-4210-a622-8d0ded54dee8/scratchpad/roles_deck/icon_us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12648"/>
            <a:ext cx="420624" cy="4206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3657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HR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868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Resources staff — nearly everything Admin has for people and organization, but cannot touch logins.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7" name="Image 1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36192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24128" y="14630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350" dirty="0"/>
          </a:p>
        </p:txBody>
      </p:sp>
      <p:sp>
        <p:nvSpPr>
          <p:cNvPr id="9" name="Text 5"/>
          <p:cNvSpPr txBox="1"/>
          <p:nvPr/>
        </p:nvSpPr>
        <p:spPr>
          <a:xfrm>
            <a:off x="1024128" y="175564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edit, and deactivate any employee; full profiles.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217920" y="137160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11" name="Image 2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53619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784848" y="14630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&amp; Job Titles</a:t>
            </a:r>
            <a:endParaRPr lang="en-US" sz="1350" dirty="0"/>
          </a:p>
        </p:txBody>
      </p:sp>
      <p:sp>
        <p:nvSpPr>
          <p:cNvPr id="13" name="Text 8"/>
          <p:cNvSpPr txBox="1"/>
          <p:nvPr/>
        </p:nvSpPr>
        <p:spPr>
          <a:xfrm>
            <a:off x="6784848" y="175564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over the company's org structure.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457200" y="237744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15" name="Image 3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542032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24128" y="24688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350" dirty="0"/>
          </a:p>
        </p:txBody>
      </p:sp>
      <p:sp>
        <p:nvSpPr>
          <p:cNvPr id="17" name="Text 11"/>
          <p:cNvSpPr txBox="1"/>
          <p:nvPr/>
        </p:nvSpPr>
        <p:spPr>
          <a:xfrm>
            <a:off x="1024128" y="276148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missed check-outs, mark present, correct any day.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6217920" y="237744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19" name="Image 4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2542032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784848" y="24688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Leave</a:t>
            </a:r>
            <a:endParaRPr lang="en-US" sz="1350" dirty="0"/>
          </a:p>
        </p:txBody>
      </p:sp>
      <p:sp>
        <p:nvSpPr>
          <p:cNvPr id="21" name="Text 14"/>
          <p:cNvSpPr txBox="1"/>
          <p:nvPr/>
        </p:nvSpPr>
        <p:spPr>
          <a:xfrm>
            <a:off x="6784848" y="276148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and acts on every leave request, company-wide.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457200" y="338328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23" name="Image 5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3547872"/>
            <a:ext cx="274320" cy="27432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024128" y="34747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Types &amp; Holidays</a:t>
            </a:r>
            <a:endParaRPr lang="en-US" sz="1350" dirty="0"/>
          </a:p>
        </p:txBody>
      </p:sp>
      <p:sp>
        <p:nvSpPr>
          <p:cNvPr id="25" name="Text 17"/>
          <p:cNvSpPr txBox="1"/>
          <p:nvPr/>
        </p:nvSpPr>
        <p:spPr>
          <a:xfrm>
            <a:off x="1024128" y="376732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leave categories and the holiday calendar.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6217920" y="338328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27" name="Image 6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512" y="3547872"/>
            <a:ext cx="274320" cy="27432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6784848" y="34747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Types</a:t>
            </a:r>
            <a:endParaRPr lang="en-US" sz="1350" dirty="0"/>
          </a:p>
        </p:txBody>
      </p:sp>
      <p:sp>
        <p:nvSpPr>
          <p:cNvPr id="29" name="Text 20"/>
          <p:cNvSpPr txBox="1"/>
          <p:nvPr/>
        </p:nvSpPr>
        <p:spPr>
          <a:xfrm>
            <a:off x="6784848" y="376732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what documents employees can upload.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457200" y="438912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31" name="Image 7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" y="4553712"/>
            <a:ext cx="274320" cy="274320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1024128" y="44805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Tasks</a:t>
            </a:r>
            <a:endParaRPr lang="en-US" sz="1350" dirty="0"/>
          </a:p>
        </p:txBody>
      </p:sp>
      <p:sp>
        <p:nvSpPr>
          <p:cNvPr id="33" name="Text 23"/>
          <p:cNvSpPr txBox="1"/>
          <p:nvPr/>
        </p:nvSpPr>
        <p:spPr>
          <a:xfrm>
            <a:off x="1024128" y="477316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and creates tasks across the company.</a:t>
            </a:r>
            <a:endParaRPr lang="en-US" sz="1050" dirty="0"/>
          </a:p>
        </p:txBody>
      </p:sp>
      <p:sp>
        <p:nvSpPr>
          <p:cNvPr id="34" name="Shape 24"/>
          <p:cNvSpPr/>
          <p:nvPr/>
        </p:nvSpPr>
        <p:spPr>
          <a:xfrm>
            <a:off x="6217920" y="438912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35" name="Image 8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2512" y="4553712"/>
            <a:ext cx="274320" cy="274320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6784848" y="44805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Logs</a:t>
            </a:r>
            <a:endParaRPr lang="en-US" sz="1350" dirty="0"/>
          </a:p>
        </p:txBody>
      </p:sp>
      <p:sp>
        <p:nvSpPr>
          <p:cNvPr id="37" name="Text 26"/>
          <p:cNvSpPr txBox="1"/>
          <p:nvPr/>
        </p:nvSpPr>
        <p:spPr>
          <a:xfrm>
            <a:off x="6784848" y="477316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history of every action in the system.</a:t>
            </a:r>
            <a:endParaRPr lang="en-US" sz="1050" dirty="0"/>
          </a:p>
        </p:txBody>
      </p:sp>
      <p:sp>
        <p:nvSpPr>
          <p:cNvPr id="38" name="Shape 27"/>
          <p:cNvSpPr/>
          <p:nvPr/>
        </p:nvSpPr>
        <p:spPr>
          <a:xfrm>
            <a:off x="457200" y="580644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FBEAEA"/>
          </a:solidFill>
          <a:ln/>
        </p:spPr>
      </p:sp>
      <p:pic>
        <p:nvPicPr>
          <p:cNvPr id="39" name="Image 9" descr="/private/tmp/claude-501/-Users-sundareswaran-Desktop-Panneer-Anna/a43ea62b-1da2-4210-a622-8d0ded54dee8/scratchpad/roles_deck/icon_ban_nav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792" y="5980176"/>
            <a:ext cx="347472" cy="347472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1097280" y="58064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do:  </a:t>
            </a:r>
            <a:pPr indent="0" marL="0">
              <a:buNone/>
            </a:pPr>
            <a:r>
              <a:rPr lang="en-US" sz="1200" dirty="0">
                <a:solidFill>
                  <a:srgbClr val="8C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involving money, resetting passwords, changing Login Roles, or Roles &amp; Permissions.</a:t>
            </a:r>
            <a:endParaRPr lang="en-US" sz="1200" dirty="0"/>
          </a:p>
        </p:txBody>
      </p:sp>
      <p:sp>
        <p:nvSpPr>
          <p:cNvPr id="41" name="Text 29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Annamalai Global Business Service  |  Roles &amp; Features Guide</a:t>
            </a:r>
            <a:endParaRPr lang="en-US" sz="900" dirty="0"/>
          </a:p>
        </p:txBody>
      </p:sp>
      <p:sp>
        <p:nvSpPr>
          <p:cNvPr id="42" name="Text 30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private/tmp/claude-501/-Users-sundareswaran-Desktop-Panneer-Anna/a43ea62b-1da2-4210-a622-8d0ded54dee8/scratchpad/roles_deck/icon_calculato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12648"/>
            <a:ext cx="420624" cy="4206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3657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Accountant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868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and finance staff — the mirror of HR: full control over money, almost nothing else.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7" name="Image 1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36192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24128" y="14630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Records</a:t>
            </a:r>
            <a:endParaRPr lang="en-US" sz="1350" dirty="0"/>
          </a:p>
        </p:txBody>
      </p:sp>
      <p:sp>
        <p:nvSpPr>
          <p:cNvPr id="9" name="Text 5"/>
          <p:cNvSpPr txBox="1"/>
          <p:nvPr/>
        </p:nvSpPr>
        <p:spPr>
          <a:xfrm>
            <a:off x="1024128" y="175564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every employee's salary structure.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217920" y="137160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11" name="Image 2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53619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784848" y="14630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Summary</a:t>
            </a:r>
            <a:endParaRPr lang="en-US" sz="1350" dirty="0"/>
          </a:p>
        </p:txBody>
      </p:sp>
      <p:sp>
        <p:nvSpPr>
          <p:cNvPr id="13" name="Text 8"/>
          <p:cNvSpPr txBox="1"/>
          <p:nvPr/>
        </p:nvSpPr>
        <p:spPr>
          <a:xfrm>
            <a:off x="6784848" y="175564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day-counts payroll is calculated from, for everyone.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457200" y="237744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15" name="Image 3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542032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24128" y="24688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Payroll</a:t>
            </a:r>
            <a:endParaRPr lang="en-US" sz="1350" dirty="0"/>
          </a:p>
        </p:txBody>
      </p:sp>
      <p:sp>
        <p:nvSpPr>
          <p:cNvPr id="17" name="Text 11"/>
          <p:cNvSpPr txBox="1"/>
          <p:nvPr/>
        </p:nvSpPr>
        <p:spPr>
          <a:xfrm>
            <a:off x="1024128" y="276148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month, marks payments paid, downloads any payslip.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6217920" y="237744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19" name="Image 4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2542032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784848" y="24688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Claims</a:t>
            </a:r>
            <a:endParaRPr lang="en-US" sz="1350" dirty="0"/>
          </a:p>
        </p:txBody>
      </p:sp>
      <p:sp>
        <p:nvSpPr>
          <p:cNvPr id="21" name="Text 14"/>
          <p:cNvSpPr txBox="1"/>
          <p:nvPr/>
        </p:nvSpPr>
        <p:spPr>
          <a:xfrm>
            <a:off x="6784848" y="276148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Approves, rejects, or pays claims (never their own).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457200" y="338328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23" name="Image 5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3547872"/>
            <a:ext cx="274320" cy="27432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024128" y="34747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Attendance &amp; Leave</a:t>
            </a:r>
            <a:endParaRPr lang="en-US" sz="1350" dirty="0"/>
          </a:p>
        </p:txBody>
      </p:sp>
      <p:sp>
        <p:nvSpPr>
          <p:cNvPr id="25" name="Text 17"/>
          <p:cNvSpPr txBox="1"/>
          <p:nvPr/>
        </p:nvSpPr>
        <p:spPr>
          <a:xfrm>
            <a:off x="1024128" y="376732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themselves in/out; applies for their own leave.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6217920" y="338328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27" name="Image 6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512" y="3547872"/>
            <a:ext cx="274320" cy="27432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6784848" y="34747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Tasks &amp; Documents</a:t>
            </a:r>
            <a:endParaRPr lang="en-US" sz="1350" dirty="0"/>
          </a:p>
        </p:txBody>
      </p:sp>
      <p:sp>
        <p:nvSpPr>
          <p:cNvPr id="29" name="Text 20"/>
          <p:cNvSpPr txBox="1"/>
          <p:nvPr/>
        </p:nvSpPr>
        <p:spPr>
          <a:xfrm>
            <a:off x="6784848" y="376732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assigned tasks and uploaded documents.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457200" y="438912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31" name="Image 7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" y="4553712"/>
            <a:ext cx="274320" cy="274320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1024128" y="44805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Payslips</a:t>
            </a:r>
            <a:endParaRPr lang="en-US" sz="1350" dirty="0"/>
          </a:p>
        </p:txBody>
      </p:sp>
      <p:sp>
        <p:nvSpPr>
          <p:cNvPr id="33" name="Text 23"/>
          <p:cNvSpPr txBox="1"/>
          <p:nvPr/>
        </p:nvSpPr>
        <p:spPr>
          <a:xfrm>
            <a:off x="1024128" y="477316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their own payslips once paid.</a:t>
            </a:r>
            <a:endParaRPr lang="en-US" sz="1050" dirty="0"/>
          </a:p>
        </p:txBody>
      </p:sp>
      <p:sp>
        <p:nvSpPr>
          <p:cNvPr id="34" name="Shape 24"/>
          <p:cNvSpPr/>
          <p:nvPr/>
        </p:nvSpPr>
        <p:spPr>
          <a:xfrm>
            <a:off x="6217920" y="438912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35" name="Image 8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2512" y="4553712"/>
            <a:ext cx="274320" cy="274320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6784848" y="44805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37" name="Text 26"/>
          <p:cNvSpPr txBox="1"/>
          <p:nvPr/>
        </p:nvSpPr>
        <p:spPr>
          <a:xfrm>
            <a:off x="6784848" y="477316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view only — no company-wide numbers.</a:t>
            </a:r>
            <a:endParaRPr lang="en-US" sz="1050" dirty="0"/>
          </a:p>
        </p:txBody>
      </p:sp>
      <p:sp>
        <p:nvSpPr>
          <p:cNvPr id="38" name="Shape 27"/>
          <p:cNvSpPr/>
          <p:nvPr/>
        </p:nvSpPr>
        <p:spPr>
          <a:xfrm>
            <a:off x="457200" y="580644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FBEAEA"/>
          </a:solidFill>
          <a:ln/>
        </p:spPr>
      </p:sp>
      <p:pic>
        <p:nvPicPr>
          <p:cNvPr id="39" name="Image 9" descr="/private/tmp/claude-501/-Users-sundareswaran-Desktop-Panneer-Anna/a43ea62b-1da2-4210-a622-8d0ded54dee8/scratchpad/roles_deck/icon_ban_nav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792" y="5980176"/>
            <a:ext cx="347472" cy="347472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1097280" y="58064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do:  </a:t>
            </a:r>
            <a:pPr indent="0" marL="0">
              <a:buNone/>
            </a:pPr>
            <a:r>
              <a:rPr lang="en-US" sz="1200" dirty="0">
                <a:solidFill>
                  <a:srgbClr val="8C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general Employees list, edit anyone's profile, approve leave, or view Audit Logs.</a:t>
            </a:r>
            <a:endParaRPr lang="en-US" sz="1200" dirty="0"/>
          </a:p>
        </p:txBody>
      </p:sp>
      <p:sp>
        <p:nvSpPr>
          <p:cNvPr id="41" name="Text 29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Annamalai Global Business Service  |  Roles &amp; Features Guide</a:t>
            </a:r>
            <a:endParaRPr lang="en-US" sz="900" dirty="0"/>
          </a:p>
        </p:txBody>
      </p:sp>
      <p:sp>
        <p:nvSpPr>
          <p:cNvPr id="42" name="Text 30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private/tmp/claude-501/-Users-sundareswaran-Desktop-Panneer-Anna/a43ea62b-1da2-4210-a622-8d0ded54dee8/scratchpad/roles_deck/icon_sitemap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12648"/>
            <a:ext cx="420624" cy="4206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3657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Manager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868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Automatic, not assigned — anyone with people reporting to them gets this authority, over their own team only.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7" name="Image 1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36192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24128" y="14630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Team</a:t>
            </a:r>
            <a:endParaRPr lang="en-US" sz="1350" dirty="0"/>
          </a:p>
        </p:txBody>
      </p:sp>
      <p:sp>
        <p:nvSpPr>
          <p:cNvPr id="9" name="Text 5"/>
          <p:cNvSpPr txBox="1"/>
          <p:nvPr/>
        </p:nvSpPr>
        <p:spPr>
          <a:xfrm>
            <a:off x="1024128" y="175564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profile access for direct reports only; company list for everyone else.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217920" y="137160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11" name="Image 2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53619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784848" y="14630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Attendance</a:t>
            </a:r>
            <a:endParaRPr lang="en-US" sz="1350" dirty="0"/>
          </a:p>
        </p:txBody>
      </p:sp>
      <p:sp>
        <p:nvSpPr>
          <p:cNvPr id="13" name="Text 8"/>
          <p:cNvSpPr txBox="1"/>
          <p:nvPr/>
        </p:nvSpPr>
        <p:spPr>
          <a:xfrm>
            <a:off x="6784848" y="175564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or correct a day — direct reports only.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457200" y="237744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15" name="Image 3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542032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24128" y="24688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Requests</a:t>
            </a:r>
            <a:endParaRPr lang="en-US" sz="1350" dirty="0"/>
          </a:p>
        </p:txBody>
      </p:sp>
      <p:sp>
        <p:nvSpPr>
          <p:cNvPr id="17" name="Text 11"/>
          <p:cNvSpPr txBox="1"/>
          <p:nvPr/>
        </p:nvSpPr>
        <p:spPr>
          <a:xfrm>
            <a:off x="1024128" y="276148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 reject — direct reports only.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6217920" y="237744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19" name="Image 4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2542032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784848" y="24688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Tasks</a:t>
            </a:r>
            <a:endParaRPr lang="en-US" sz="1350" dirty="0"/>
          </a:p>
        </p:txBody>
      </p:sp>
      <p:sp>
        <p:nvSpPr>
          <p:cNvPr id="21" name="Text 14"/>
          <p:cNvSpPr txBox="1"/>
          <p:nvPr/>
        </p:nvSpPr>
        <p:spPr>
          <a:xfrm>
            <a:off x="6784848" y="276148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assign tasks to their own team.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457200" y="338328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23" name="Image 5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3547872"/>
            <a:ext cx="274320" cy="27432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024128" y="34747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Attendance &amp; Leave</a:t>
            </a:r>
            <a:endParaRPr lang="en-US" sz="1350" dirty="0"/>
          </a:p>
        </p:txBody>
      </p:sp>
      <p:sp>
        <p:nvSpPr>
          <p:cNvPr id="25" name="Text 17"/>
          <p:cNvSpPr txBox="1"/>
          <p:nvPr/>
        </p:nvSpPr>
        <p:spPr>
          <a:xfrm>
            <a:off x="1024128" y="376732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themselves in/out; applies for their own leave.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6217920" y="338328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27" name="Image 6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512" y="3547872"/>
            <a:ext cx="274320" cy="27432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6784848" y="34747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Documents</a:t>
            </a:r>
            <a:endParaRPr lang="en-US" sz="1350" dirty="0"/>
          </a:p>
        </p:txBody>
      </p:sp>
      <p:sp>
        <p:nvSpPr>
          <p:cNvPr id="29" name="Text 20"/>
          <p:cNvSpPr txBox="1"/>
          <p:nvPr/>
        </p:nvSpPr>
        <p:spPr>
          <a:xfrm>
            <a:off x="6784848" y="376732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uploaded documents.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457200" y="438912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31" name="Image 7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" y="4553712"/>
            <a:ext cx="274320" cy="274320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1024128" y="44805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Expenses &amp; Payslips</a:t>
            </a:r>
            <a:endParaRPr lang="en-US" sz="1350" dirty="0"/>
          </a:p>
        </p:txBody>
      </p:sp>
      <p:sp>
        <p:nvSpPr>
          <p:cNvPr id="33" name="Text 23"/>
          <p:cNvSpPr txBox="1"/>
          <p:nvPr/>
        </p:nvSpPr>
        <p:spPr>
          <a:xfrm>
            <a:off x="1024128" y="477316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claims; downloads their own payslips.</a:t>
            </a:r>
            <a:endParaRPr lang="en-US" sz="1050" dirty="0"/>
          </a:p>
        </p:txBody>
      </p:sp>
      <p:sp>
        <p:nvSpPr>
          <p:cNvPr id="34" name="Shape 24"/>
          <p:cNvSpPr/>
          <p:nvPr/>
        </p:nvSpPr>
        <p:spPr>
          <a:xfrm>
            <a:off x="6217920" y="438912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35" name="Image 8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2512" y="4553712"/>
            <a:ext cx="274320" cy="274320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6784848" y="44805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37" name="Text 26"/>
          <p:cNvSpPr txBox="1"/>
          <p:nvPr/>
        </p:nvSpPr>
        <p:spPr>
          <a:xfrm>
            <a:off x="6784848" y="477316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view only — no company-wide numbers.</a:t>
            </a:r>
            <a:endParaRPr lang="en-US" sz="1050" dirty="0"/>
          </a:p>
        </p:txBody>
      </p:sp>
      <p:sp>
        <p:nvSpPr>
          <p:cNvPr id="38" name="Shape 27"/>
          <p:cNvSpPr/>
          <p:nvPr/>
        </p:nvSpPr>
        <p:spPr>
          <a:xfrm>
            <a:off x="457200" y="580644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FBEAEA"/>
          </a:solidFill>
          <a:ln/>
        </p:spPr>
      </p:sp>
      <p:pic>
        <p:nvPicPr>
          <p:cNvPr id="39" name="Image 9" descr="/private/tmp/claude-501/-Users-sundareswaran-Desktop-Panneer-Anna/a43ea62b-1da2-4210-a622-8d0ded54dee8/scratchpad/roles_deck/icon_ban_nav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792" y="5980176"/>
            <a:ext cx="347472" cy="347472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1097280" y="58064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do:  </a:t>
            </a:r>
            <a:pPr indent="0" marL="0">
              <a:buNone/>
            </a:pPr>
            <a:r>
              <a:rPr lang="en-US" sz="1200" dirty="0">
                <a:solidFill>
                  <a:srgbClr val="8C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on anyone outside their direct reporting line, touch payroll, or manage company-wide settings.</a:t>
            </a:r>
            <a:endParaRPr lang="en-US" sz="1200" dirty="0"/>
          </a:p>
        </p:txBody>
      </p:sp>
      <p:sp>
        <p:nvSpPr>
          <p:cNvPr id="41" name="Text 29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Annamalai Global Business Service  |  Roles &amp; Features Guide</a:t>
            </a:r>
            <a:endParaRPr lang="en-US" sz="900" dirty="0"/>
          </a:p>
        </p:txBody>
      </p:sp>
      <p:sp>
        <p:nvSpPr>
          <p:cNvPr id="42" name="Text 30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/private/tmp/claude-501/-Users-sundareswaran-Desktop-Panneer-Anna/a43ea62b-1da2-4210-a622-8d0ded54dee8/scratchpad/roles_deck/icon_us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612648"/>
            <a:ext cx="420624" cy="42062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3657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463040" y="8686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role, and the baseline every other role builds on. Everything here is scoped to themselves only.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7" name="Image 1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536192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024128" y="14630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9" name="Text 5"/>
          <p:cNvSpPr txBox="1"/>
          <p:nvPr/>
        </p:nvSpPr>
        <p:spPr>
          <a:xfrm>
            <a:off x="1024128" y="175564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view: today's attendance, leave balance, own tasks.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217920" y="137160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11" name="Image 2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536192"/>
            <a:ext cx="274320" cy="2743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784848" y="14630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Profile</a:t>
            </a:r>
            <a:endParaRPr lang="en-US" sz="1350" dirty="0"/>
          </a:p>
        </p:txBody>
      </p:sp>
      <p:sp>
        <p:nvSpPr>
          <p:cNvPr id="13" name="Text 8"/>
          <p:cNvSpPr txBox="1"/>
          <p:nvPr/>
        </p:nvSpPr>
        <p:spPr>
          <a:xfrm>
            <a:off x="6784848" y="175564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own details.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457200" y="237744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15" name="Image 3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542032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24128" y="24688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Attendance</a:t>
            </a:r>
            <a:endParaRPr lang="en-US" sz="1350" dirty="0"/>
          </a:p>
        </p:txBody>
      </p:sp>
      <p:sp>
        <p:nvSpPr>
          <p:cNvPr id="17" name="Text 11"/>
          <p:cNvSpPr txBox="1"/>
          <p:nvPr/>
        </p:nvSpPr>
        <p:spPr>
          <a:xfrm>
            <a:off x="1024128" y="276148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in/out each day; views their own history and calendar.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6217920" y="237744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19" name="Image 4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2542032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784848" y="24688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Leave</a:t>
            </a:r>
            <a:endParaRPr lang="en-US" sz="1350" dirty="0"/>
          </a:p>
        </p:txBody>
      </p:sp>
      <p:sp>
        <p:nvSpPr>
          <p:cNvPr id="21" name="Text 14"/>
          <p:cNvSpPr txBox="1"/>
          <p:nvPr/>
        </p:nvSpPr>
        <p:spPr>
          <a:xfrm>
            <a:off x="6784848" y="276148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for leave, views balance and history.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457200" y="338328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23" name="Image 5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3547872"/>
            <a:ext cx="274320" cy="27432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024128" y="34747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Tasks</a:t>
            </a:r>
            <a:endParaRPr lang="en-US" sz="1350" dirty="0"/>
          </a:p>
        </p:txBody>
      </p:sp>
      <p:sp>
        <p:nvSpPr>
          <p:cNvPr id="25" name="Text 17"/>
          <p:cNvSpPr txBox="1"/>
          <p:nvPr/>
        </p:nvSpPr>
        <p:spPr>
          <a:xfrm>
            <a:off x="1024128" y="376732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tasks assigned to them.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6217920" y="338328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27" name="Image 6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512" y="3547872"/>
            <a:ext cx="274320" cy="27432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6784848" y="34747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Documents</a:t>
            </a:r>
            <a:endParaRPr lang="en-US" sz="1350" dirty="0"/>
          </a:p>
        </p:txBody>
      </p:sp>
      <p:sp>
        <p:nvSpPr>
          <p:cNvPr id="29" name="Text 20"/>
          <p:cNvSpPr txBox="1"/>
          <p:nvPr/>
        </p:nvSpPr>
        <p:spPr>
          <a:xfrm>
            <a:off x="6784848" y="376732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and manages their own documents.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457200" y="438912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31" name="Image 7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" y="4553712"/>
            <a:ext cx="274320" cy="274320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1024128" y="44805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Expenses</a:t>
            </a:r>
            <a:endParaRPr lang="en-US" sz="1350" dirty="0"/>
          </a:p>
        </p:txBody>
      </p:sp>
      <p:sp>
        <p:nvSpPr>
          <p:cNvPr id="33" name="Text 23"/>
          <p:cNvSpPr txBox="1"/>
          <p:nvPr/>
        </p:nvSpPr>
        <p:spPr>
          <a:xfrm>
            <a:off x="1024128" y="477316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an expense reimbursement claim.</a:t>
            </a:r>
            <a:endParaRPr lang="en-US" sz="1050" dirty="0"/>
          </a:p>
        </p:txBody>
      </p:sp>
      <p:sp>
        <p:nvSpPr>
          <p:cNvPr id="34" name="Shape 24"/>
          <p:cNvSpPr/>
          <p:nvPr/>
        </p:nvSpPr>
        <p:spPr>
          <a:xfrm>
            <a:off x="6217920" y="438912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4F5FA"/>
          </a:solidFill>
          <a:ln/>
          <a:effectLst>
            <a:outerShdw sx="100000" sy="100000" kx="0" ky="0" algn="bl" rotWithShape="0" blurRad="50800" dist="12700" dir="5400000">
              <a:srgbClr val="404040">
                <a:alpha val="12000"/>
              </a:srgbClr>
            </a:outerShdw>
          </a:effectLst>
        </p:spPr>
      </p:sp>
      <p:pic>
        <p:nvPicPr>
          <p:cNvPr id="35" name="Image 8" descr="/private/tmp/claude-501/-Users-sundareswaran-Desktop-Panneer-Anna/a43ea62b-1da2-4210-a622-8d0ded54dee8/scratchpad/roles_deck/icon_check_gol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2512" y="4553712"/>
            <a:ext cx="274320" cy="274320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6784848" y="44805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Payslips &amp; Holidays</a:t>
            </a:r>
            <a:endParaRPr lang="en-US" sz="1350" dirty="0"/>
          </a:p>
        </p:txBody>
      </p:sp>
      <p:sp>
        <p:nvSpPr>
          <p:cNvPr id="37" name="Text 26"/>
          <p:cNvSpPr txBox="1"/>
          <p:nvPr/>
        </p:nvSpPr>
        <p:spPr>
          <a:xfrm>
            <a:off x="6784848" y="477316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292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own payslips; views the holiday calendar.</a:t>
            </a:r>
            <a:endParaRPr lang="en-US" sz="1050" dirty="0"/>
          </a:p>
        </p:txBody>
      </p:sp>
      <p:sp>
        <p:nvSpPr>
          <p:cNvPr id="38" name="Shape 27"/>
          <p:cNvSpPr/>
          <p:nvPr/>
        </p:nvSpPr>
        <p:spPr>
          <a:xfrm>
            <a:off x="457200" y="5806440"/>
            <a:ext cx="11247120" cy="685800"/>
          </a:xfrm>
          <a:prstGeom prst="roundRect">
            <a:avLst>
              <a:gd name="adj" fmla="val 10667"/>
            </a:avLst>
          </a:prstGeom>
          <a:solidFill>
            <a:srgbClr val="FBEAEA"/>
          </a:solidFill>
          <a:ln/>
        </p:spPr>
      </p:sp>
      <p:pic>
        <p:nvPicPr>
          <p:cNvPr id="39" name="Image 9" descr="/private/tmp/claude-501/-Users-sundareswaran-Desktop-Panneer-Anna/a43ea62b-1da2-4210-a622-8d0ded54dee8/scratchpad/roles_deck/icon_ban_navy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792" y="5980176"/>
            <a:ext cx="347472" cy="347472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1097280" y="5806440"/>
            <a:ext cx="10424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do:  </a:t>
            </a:r>
            <a:pPr indent="0" marL="0">
              <a:buNone/>
            </a:pPr>
            <a:r>
              <a:rPr lang="en-US" sz="1200" dirty="0">
                <a:solidFill>
                  <a:srgbClr val="8C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anyone else's information at all — not even a colleague's attendance or profile.</a:t>
            </a:r>
            <a:endParaRPr lang="en-US" sz="1200" dirty="0"/>
          </a:p>
        </p:txBody>
      </p:sp>
      <p:sp>
        <p:nvSpPr>
          <p:cNvPr id="41" name="Text 29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Annamalai Global Business Service  |  Roles &amp; Features Guide</a:t>
            </a:r>
            <a:endParaRPr lang="en-US" sz="900" dirty="0"/>
          </a:p>
        </p:txBody>
      </p:sp>
      <p:sp>
        <p:nvSpPr>
          <p:cNvPr id="42" name="Text 30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5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77240" cy="7772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C79A2B"/>
            </a:solidFill>
            <a:prstDash val="solid"/>
          </a:ln>
        </p:spPr>
      </p:sp>
      <p:pic>
        <p:nvPicPr>
          <p:cNvPr id="3" name="Image 0" descr="/private/tmp/claude-501/-Users-sundareswaran-Desktop-Panneer-Anna/a43ea62b-1da2-4210-a622-8d0ded54dee8/scratchpad/roles_deck/icon_scroll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49224"/>
            <a:ext cx="393192" cy="3931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08760" y="4114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That Apply to Everyone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1508760" y="9144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the system itself — not tied to any one Login Role.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50876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1805940"/>
            <a:ext cx="502920" cy="502920"/>
          </a:xfrm>
          <a:prstGeom prst="ellipse">
            <a:avLst/>
          </a:prstGeom>
          <a:solidFill>
            <a:srgbClr val="C79A2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18059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554480" y="1636776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approving yourself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554480" y="196596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can approve their own leave, mark their own expense claim paid, or correct their own attendance — even a Founder.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2770632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2" name="Shape 9"/>
          <p:cNvSpPr/>
          <p:nvPr/>
        </p:nvSpPr>
        <p:spPr>
          <a:xfrm>
            <a:off x="822960" y="3067812"/>
            <a:ext cx="502920" cy="502920"/>
          </a:xfrm>
          <a:prstGeom prst="ellipse">
            <a:avLst/>
          </a:prstGeom>
          <a:solidFill>
            <a:srgbClr val="C79A2B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22960" y="30678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1554480" y="289864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set of office hours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3227832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9:00 AM start (10 minutes' grace), 1:00–1:30 PM lunch deducted automatically, half-day after a 1:30 PM arrival.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48640" y="4032504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7" name="Shape 14"/>
          <p:cNvSpPr/>
          <p:nvPr/>
        </p:nvSpPr>
        <p:spPr>
          <a:xfrm>
            <a:off x="822960" y="4329684"/>
            <a:ext cx="502920" cy="502920"/>
          </a:xfrm>
          <a:prstGeom prst="ellipse">
            <a:avLst/>
          </a:prstGeom>
          <a:solidFill>
            <a:srgbClr val="C79A2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22960" y="43296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416052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paid month is locked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554480" y="4489704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payroll is run and paid for a month, nothing about that month's leave or attendance can change. Corrections move to next month.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5294376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22" name="Shape 19"/>
          <p:cNvSpPr/>
          <p:nvPr/>
        </p:nvSpPr>
        <p:spPr>
          <a:xfrm>
            <a:off x="822960" y="5591556"/>
            <a:ext cx="502920" cy="502920"/>
          </a:xfrm>
          <a:prstGeom prst="ellipse">
            <a:avLst/>
          </a:prstGeom>
          <a:solidFill>
            <a:srgbClr val="C79A2B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22960" y="55915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1554480" y="542239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sensitive is logged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554480" y="5751576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E7E5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password reset, a role change, a salary set, a leave approval, an attendance correction — all written to the Audit Log.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Annamalai Global Business Service  |  Roles &amp; Features Guide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1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5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84648" y="1280160"/>
            <a:ext cx="1828800" cy="1828800"/>
          </a:xfrm>
          <a:prstGeom prst="ellipse">
            <a:avLst/>
          </a:prstGeom>
          <a:solidFill>
            <a:srgbClr val="1E2761"/>
          </a:solidFill>
          <a:ln w="19050">
            <a:solidFill>
              <a:srgbClr val="C79A2B"/>
            </a:solidFill>
            <a:prstDash val="solid"/>
          </a:ln>
        </p:spPr>
      </p:sp>
      <p:pic>
        <p:nvPicPr>
          <p:cNvPr id="3" name="Image 0" descr="/private/tmp/claude-501/-Users-sundareswaran-Desktop-Panneer-Anna/a43ea62b-1da2-4210-a622-8d0ded54dee8/scratchpad/roles_deck/icon_shield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1848" y="173736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352044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technical detail, always live in the app: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3886200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79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 → Roles &amp; Permissions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612648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AE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 Annamalai Global Business Service  —  Employee Management System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T Navy Gold">
  <a:themeElements>
    <a:clrScheme name="SAT Navy Gold">
      <a:dk1>
        <a:srgbClr val="292524"/>
      </a:dk1>
      <a:lt1>
        <a:srgbClr val="FFFFFF"/>
      </a:lt1>
      <a:dk2>
        <a:srgbClr val="1E2761"/>
      </a:dk2>
      <a:lt2>
        <a:srgbClr val="F4F5FA"/>
      </a:lt2>
      <a:accent1>
        <a:srgbClr val="C79A2B"/>
      </a:accent1>
      <a:accent2>
        <a:srgbClr val="1E2761"/>
      </a:accent2>
      <a:accent3>
        <a:srgbClr val="78716C"/>
      </a:accent3>
      <a:accent4>
        <a:srgbClr val="CADCFC"/>
      </a:accent4>
      <a:accent5>
        <a:srgbClr val="15803D"/>
      </a:accent5>
      <a:accent6>
        <a:srgbClr val="8C2F2F"/>
      </a:accent6>
      <a:hlink>
        <a:srgbClr val="C79A2B"/>
      </a:hlink>
      <a:folHlink>
        <a:srgbClr val="78716C"/>
      </a:folHlink>
    </a:clrScheme>
    <a:fontScheme name="SAT Navy Gold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Sri Annamalai Global Business Service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Roles and Features Guide</dc:title>
  <dc:subject>PptxGenJS Presentation</dc:subject>
  <dc:creator>Sri Annamalai Global Business Service</dc:creator>
  <cp:lastModifiedBy>Sri Annamalai Global Business Service</cp:lastModifiedBy>
  <cp:revision>1</cp:revision>
  <dcterms:created xsi:type="dcterms:W3CDTF">2026-10-18T12:58:49Z</dcterms:created>
  <dcterms:modified xsi:type="dcterms:W3CDTF">2026-10-18T12:58:49Z</dcterms:modified>
</cp:coreProperties>
</file>